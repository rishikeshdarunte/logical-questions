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A22EC-5CD0-D1A0-D97C-52D7B12D8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A7180-91ED-4720-D568-7AC51AF14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5A259-E569-248B-CAEE-B8DAEDD26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758EE-9F1B-14CA-5EC4-D2BD506C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074FB-FC30-2752-0C4C-6D92A3D5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09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E463-904F-7662-22CB-B74D89A8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645FA-F6FB-C095-20C4-4B82D2D1E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0AAE2-0CB3-416D-CE9C-AC2BA2C9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49D0-99C0-09EF-B03D-457AE20B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B872A-5B56-6B43-DE06-BAC3DE90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2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DCAC-435A-6211-37F4-6F781F05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2702B-7D6C-34BD-849B-836890CEC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85481-EB7B-356A-1A03-CBE343517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6F79-F2B3-7962-1263-84B19FDDD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727AB-2128-69DB-BE20-FB444599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04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855D-B8C9-BF4B-DFF0-7A57A1D1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CBCB-EAA2-9707-B217-DD53BC677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56507-57CE-280B-152D-8629368F2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E0EE1-8D55-419E-1821-8E771D919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D378D-A19B-3F73-8BDD-A0137312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51461-4B0E-15AB-09D4-AB413324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24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EFF5-34BC-6C0E-6F76-67863A2B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F8609-5B8C-59B7-FA2D-AC12F86D1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A63DA-98BA-3E46-54F7-7047E52FC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E4FBA-83E6-C1EE-E0F0-490BEF060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7543D-C6ED-F75F-4A1E-BD26AE5A1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28206-E43E-E155-9283-DDCF39A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BAD81-20CE-3301-64DB-2FE108C87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354D5-AA27-7980-4308-A57C49BD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5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EF14-0ABC-25F9-EBA6-5EBF4D23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B0D28-6FEF-7A02-5089-37ABEEFF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77B49-1E0C-B58D-F3D0-CD9B1E52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5C3DB-7D73-7500-39E9-378DC87F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28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E7977-E3F8-A8B5-6981-20AA08C4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AEF22-F97C-AD55-612A-793A5CE4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554A6-7196-A4AD-0065-879BCCE8F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752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BE9A-9DA1-5970-0A5C-D748BED2D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E106B-C22A-4130-8AA1-129A4EBD9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DCACC-EE79-0448-7581-6871F5C20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48F9D-A48E-CAFD-74A1-B884A323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B1242-D6A0-601E-7E02-67EE21FE6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C51FC-1E86-91B4-9D72-FDB22393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647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E9E16-46A2-651F-911B-601FCD9B2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0914B-0723-CD0B-D822-E582EC017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4688F-72C2-EC5A-0505-36C796A96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6E64-2785-4411-BB8F-1A2A187CB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464AC-0B63-D923-868E-09EF1875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BE61F-E391-A540-3CB1-1BB1DAAC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660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76F7-DE69-3D45-3E60-D4782F4B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5D22E-6843-8839-32F4-B39F1C280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AE511-6E3E-DAD2-93BC-DDD42B1D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5459C-688D-5CF3-AC9C-20AE27D3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0505C-BD9F-4DA0-328C-F070CFCE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15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7BACD9-0BD5-1E97-78D7-6482B2F50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46A6A-BD06-C8DE-4061-0944A1491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BDE88-137A-3A38-D55A-61CD4B40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B5230-9BAA-C436-3AA8-46488A6B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90FC3-AB11-7807-CADA-93931C569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48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81A4E-68F5-CE84-F2EA-9C9AA3F3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3820D-63A2-C4AC-FA52-85AAA9E72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379A6-BEC7-163B-820A-534344B7E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BF22E-7A58-4911-8A3D-5923DA14CBF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DA11F-A690-321E-B0C4-40F54E96B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FE398-0085-1775-E0FF-7C796CF6E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FFA68-5D88-4978-B43A-217B728D8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36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85207B-DDF2-CF97-F09A-39949D3D7FA4}"/>
              </a:ext>
            </a:extLst>
          </p:cNvPr>
          <p:cNvSpPr txBox="1"/>
          <p:nvPr/>
        </p:nvSpPr>
        <p:spPr>
          <a:xfrm>
            <a:off x="1515534" y="445532"/>
            <a:ext cx="605366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java.util.HashMap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0" marR="0">
              <a:buNone/>
            </a:pPr>
            <a:b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Demo2 {</a:t>
            </a:r>
          </a:p>
          <a:p>
            <a:pPr marL="0" marR="0">
              <a:buNone/>
            </a:pP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main(String[] </a:t>
            </a:r>
            <a:r>
              <a:rPr lang="en-IN" sz="1200" dirty="0" err="1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marL="0" marR="0">
              <a:buNone/>
            </a:pPr>
            <a:r>
              <a:rPr lang="en-IN" sz="1200" dirty="0">
                <a:solidFill>
                  <a:srgbClr val="3F7F5F"/>
                </a:solidFill>
                <a:effectLst/>
                <a:latin typeface="Courier New" panose="02070309020205020404" pitchFamily="49" charset="0"/>
              </a:rPr>
              <a:t>// Input array</a:t>
            </a: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String[] </a:t>
            </a:r>
            <a:r>
              <a:rPr lang="en-IN" sz="1200" dirty="0" err="1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 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"A"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"B"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"C"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"D"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"E"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"F"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"F"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"G"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"A"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};</a:t>
            </a:r>
          </a:p>
          <a:p>
            <a:pPr marL="0" marR="0">
              <a:buNone/>
            </a:pPr>
            <a:b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dirty="0">
                <a:solidFill>
                  <a:srgbClr val="3F7F5F"/>
                </a:solidFill>
                <a:effectLst/>
                <a:latin typeface="Courier New" panose="02070309020205020404" pitchFamily="49" charset="0"/>
              </a:rPr>
              <a:t>// Step 1: Build frequency map (O(n))</a:t>
            </a: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HashMap&lt;String, Integer&gt; </a:t>
            </a:r>
            <a:r>
              <a:rPr lang="en-IN" sz="1200" dirty="0" err="1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freqMap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HashMap&lt;&gt;();</a:t>
            </a:r>
          </a:p>
          <a:p>
            <a:pPr marL="0" marR="0">
              <a:buNone/>
            </a:pPr>
            <a:b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(String </a:t>
            </a:r>
            <a:r>
              <a:rPr lang="en-IN" sz="1200" dirty="0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en-IN" sz="1200" dirty="0" err="1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marL="0" marR="0">
              <a:buNone/>
            </a:pPr>
            <a:r>
              <a:rPr lang="en-IN" sz="1200" dirty="0">
                <a:solidFill>
                  <a:srgbClr val="3F7F5F"/>
                </a:solidFill>
                <a:effectLst/>
                <a:latin typeface="Courier New" panose="02070309020205020404" pitchFamily="49" charset="0"/>
              </a:rPr>
              <a:t>// If key found then increment its value</a:t>
            </a: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IN" sz="1200" dirty="0" err="1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freqMap</a:t>
            </a:r>
            <a:r>
              <a:rPr lang="en-IN" sz="12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.containsKey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{</a:t>
            </a:r>
          </a:p>
          <a:p>
            <a:pPr marL="0" marR="0">
              <a:buNone/>
            </a:pPr>
            <a:r>
              <a:rPr lang="en-IN" sz="1200" dirty="0" err="1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freqMap</a:t>
            </a:r>
            <a:r>
              <a:rPr lang="en-IN" sz="12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.put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sz="1200" dirty="0" err="1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freqMap</a:t>
            </a:r>
            <a:r>
              <a:rPr lang="en-IN" sz="12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.get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+ 1); </a:t>
            </a:r>
            <a:r>
              <a:rPr lang="en-IN" sz="1200" dirty="0">
                <a:solidFill>
                  <a:srgbClr val="3F7F5F"/>
                </a:solidFill>
                <a:effectLst/>
                <a:latin typeface="Courier New" panose="02070309020205020404" pitchFamily="49" charset="0"/>
              </a:rPr>
              <a:t>// If already present, increment</a:t>
            </a: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 </a:t>
            </a:r>
            <a:r>
              <a:rPr lang="en-IN" sz="12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{</a:t>
            </a:r>
          </a:p>
          <a:p>
            <a:pPr marL="0" marR="0">
              <a:buNone/>
            </a:pPr>
            <a:r>
              <a:rPr lang="en-IN" sz="1200" dirty="0" err="1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freqMap</a:t>
            </a:r>
            <a:r>
              <a:rPr lang="en-IN" sz="12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.put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item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1); </a:t>
            </a:r>
            <a:r>
              <a:rPr lang="en-IN" sz="1200" dirty="0">
                <a:solidFill>
                  <a:srgbClr val="3F7F5F"/>
                </a:solidFill>
                <a:effectLst/>
                <a:latin typeface="Courier New" panose="02070309020205020404" pitchFamily="49" charset="0"/>
              </a:rPr>
              <a:t>// If not present, add with count 1</a:t>
            </a: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0" marR="0">
              <a:buNone/>
            </a:pP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0" marR="0">
              <a:buNone/>
            </a:pPr>
            <a:b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dirty="0">
                <a:solidFill>
                  <a:srgbClr val="3F7F5F"/>
                </a:solidFill>
                <a:effectLst/>
                <a:latin typeface="Courier New" panose="02070309020205020404" pitchFamily="49" charset="0"/>
              </a:rPr>
              <a:t>// Step 2: Query in O(1)</a:t>
            </a:r>
            <a:endParaRPr lang="en-IN" sz="12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marR="0">
              <a:buNone/>
            </a:pPr>
            <a:r>
              <a:rPr lang="en-IN" sz="12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System.</a:t>
            </a:r>
            <a:r>
              <a:rPr lang="en-IN" sz="1200" b="1" i="1" dirty="0" err="1">
                <a:solidFill>
                  <a:srgbClr val="0000C0"/>
                </a:solidFill>
                <a:effectLst/>
                <a:latin typeface="Courier New" panose="02070309020205020404" pitchFamily="49" charset="0"/>
              </a:rPr>
              <a:t>out</a:t>
            </a:r>
            <a:r>
              <a:rPr lang="en-IN" sz="12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.println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"Count of A: 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IN" sz="1200" dirty="0" err="1">
                <a:solidFill>
                  <a:srgbClr val="6A3E3E"/>
                </a:solidFill>
                <a:effectLst/>
                <a:latin typeface="Courier New" panose="02070309020205020404" pitchFamily="49" charset="0"/>
              </a:rPr>
              <a:t>freqMap</a:t>
            </a:r>
            <a:r>
              <a:rPr lang="en-IN" sz="12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.get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2A00FF"/>
                </a:solidFill>
                <a:effectLst/>
                <a:latin typeface="Courier New" panose="02070309020205020404" pitchFamily="49" charset="0"/>
              </a:rPr>
              <a:t>"A"</a:t>
            </a: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));</a:t>
            </a:r>
          </a:p>
          <a:p>
            <a:pPr marL="0" marR="0">
              <a:buNone/>
            </a:pP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0" marR="0">
              <a:buNone/>
            </a:pPr>
            <a:r>
              <a:rPr lang="en-IN" sz="12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024E93-4EFB-4604-CF30-DA7992E0E1EF}"/>
              </a:ext>
            </a:extLst>
          </p:cNvPr>
          <p:cNvGraphicFramePr>
            <a:graphicFrameLocks noGrp="1"/>
          </p:cNvGraphicFramePr>
          <p:nvPr/>
        </p:nvGraphicFramePr>
        <p:xfrm>
          <a:off x="7848600" y="2514600"/>
          <a:ext cx="2743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96462781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1845000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6039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1[++]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2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83625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70678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71685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54647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81947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1[++]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2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65531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8486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0EBA456-D56E-8A1F-8D79-C1684E942ECE}"/>
              </a:ext>
            </a:extLst>
          </p:cNvPr>
          <p:cNvSpPr txBox="1"/>
          <p:nvPr/>
        </p:nvSpPr>
        <p:spPr>
          <a:xfrm>
            <a:off x="4648200" y="76200"/>
            <a:ext cx="57912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Count occurrence of letter ‘A’ with Big O(1)</a:t>
            </a:r>
          </a:p>
        </p:txBody>
      </p:sp>
    </p:spTree>
    <p:extLst>
      <p:ext uri="{BB962C8B-B14F-4D97-AF65-F5344CB8AC3E}">
        <p14:creationId xmlns:p14="http://schemas.microsoft.com/office/powerpoint/2010/main" val="342149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DE95A5A-AF90-A5C9-9830-640C54E02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67" y="426304"/>
            <a:ext cx="10481733" cy="203132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 Unicode MS"/>
              </a:rPr>
              <a:t>What the program does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 Unicode MS"/>
              </a:rPr>
              <a:t>1. 	You have an array of letters like .[“A”,”B”,”C”,”D”,”E”,”F”,”F”,”G”,”A”]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 Unicode MS"/>
              </a:rPr>
              <a:t>2. 	The program wants to count how many times each letter appears.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 Unicode MS"/>
              </a:rPr>
              <a:t>3. 	To do this, it uses a map (in Java, that’s a </a:t>
            </a:r>
            <a:r>
              <a:rPr lang="en-US" altLang="en-US" sz="1400" b="1" dirty="0" err="1">
                <a:latin typeface="Arial Unicode MS"/>
              </a:rPr>
              <a:t>HasjMap</a:t>
            </a:r>
            <a:r>
              <a:rPr lang="en-US" altLang="en-US" sz="1400" b="1" dirty="0">
                <a:latin typeface="Arial Unicode MS"/>
              </a:rPr>
              <a:t> 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 Unicode MS"/>
              </a:rPr>
              <a:t>• 	A map is like a dictionary: it stores a key (the letter) and a value (the count).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 Unicode MS"/>
              </a:rPr>
              <a:t>4. 	For each letter in the array: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 Unicode MS"/>
              </a:rPr>
              <a:t>• 	If the letter is already in the map, increase its count by 1.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 Unicode MS"/>
              </a:rPr>
              <a:t>• 	If the letter is not in the map yet, put it in with a count of 1.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 Unicode MS"/>
              </a:rPr>
              <a:t>5. 	At the end, you can ask the map: “How many times did A appear?” and it gives you the answer.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BAED5-1A5C-9EFF-0F82-63A532685211}"/>
              </a:ext>
            </a:extLst>
          </p:cNvPr>
          <p:cNvSpPr txBox="1"/>
          <p:nvPr/>
        </p:nvSpPr>
        <p:spPr>
          <a:xfrm>
            <a:off x="6096000" y="-25399"/>
            <a:ext cx="4572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Retrieves the value for key 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"A"</a:t>
            </a:r>
            <a:r>
              <a:rPr lang="en-US" altLang="en-US" dirty="0">
                <a:solidFill>
                  <a:schemeClr val="tx1"/>
                </a:solidFill>
              </a:rPr>
              <a:t> in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O(1)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43B84-683A-594A-9655-76AE7297A250}"/>
              </a:ext>
            </a:extLst>
          </p:cNvPr>
          <p:cNvSpPr txBox="1"/>
          <p:nvPr/>
        </p:nvSpPr>
        <p:spPr>
          <a:xfrm>
            <a:off x="67732" y="2890548"/>
            <a:ext cx="9095041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Example with your array</a:t>
            </a:r>
          </a:p>
          <a:p>
            <a:r>
              <a:rPr lang="en-US" dirty="0"/>
              <a:t>• 	Start with empty map.</a:t>
            </a:r>
          </a:p>
          <a:p>
            <a:r>
              <a:rPr lang="en-US" dirty="0"/>
              <a:t>• 	See   A→ not in map → add .A:1</a:t>
            </a:r>
          </a:p>
          <a:p>
            <a:r>
              <a:rPr lang="en-US" dirty="0"/>
              <a:t>• 	See  B→ add .B:1</a:t>
            </a:r>
          </a:p>
          <a:p>
            <a:r>
              <a:rPr lang="en-US" dirty="0"/>
              <a:t>• 	See  C→ add . C:1</a:t>
            </a:r>
          </a:p>
          <a:p>
            <a:r>
              <a:rPr lang="en-US" dirty="0"/>
              <a:t>• 	… keep going …</a:t>
            </a:r>
          </a:p>
          <a:p>
            <a:r>
              <a:rPr lang="en-US" dirty="0"/>
              <a:t>• 	When you see   F again →F   is already there → increase to . F:2</a:t>
            </a:r>
          </a:p>
          <a:p>
            <a:r>
              <a:rPr lang="en-US" dirty="0"/>
              <a:t>• 	When you see  A again →  A is already there → increase to . A:2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C5F0B-FED1-1930-19FD-09CCF2534E15}"/>
              </a:ext>
            </a:extLst>
          </p:cNvPr>
          <p:cNvSpPr txBox="1"/>
          <p:nvPr/>
        </p:nvSpPr>
        <p:spPr>
          <a:xfrm>
            <a:off x="9162773" y="3845404"/>
            <a:ext cx="2767149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Final counts: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→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 →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 →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 →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 →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 →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 → 1</a:t>
            </a:r>
          </a:p>
        </p:txBody>
      </p:sp>
    </p:spTree>
    <p:extLst>
      <p:ext uri="{BB962C8B-B14F-4D97-AF65-F5344CB8AC3E}">
        <p14:creationId xmlns:p14="http://schemas.microsoft.com/office/powerpoint/2010/main" val="2479646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510</Words>
  <Application>Microsoft Office PowerPoint</Application>
  <PresentationFormat>Widescreen</PresentationFormat>
  <Paragraphs>66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Unicode MS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2</cp:revision>
  <dcterms:created xsi:type="dcterms:W3CDTF">2026-01-12T05:25:05Z</dcterms:created>
  <dcterms:modified xsi:type="dcterms:W3CDTF">2026-07-15T03:59:54Z</dcterms:modified>
</cp:coreProperties>
</file>